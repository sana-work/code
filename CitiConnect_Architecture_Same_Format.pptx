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82880"/>
            <a:ext cx="1147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96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CitiConnect Phase 1: User journey + platform entry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694944"/>
            <a:ext cx="11292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client authentication flows through the developer portal, validation gate, chat UI, and Services AI Platform before orchestration begins.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28" y="93268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agent requests are powered by Google Gemini via R2D2.</a:t>
            </a:r>
            <a:endParaRPr lang="en-US" sz="71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11521440" cy="2011680"/>
          </a:xfrm>
          <a:prstGeom prst="roundRect">
            <a:avLst>
              <a:gd name="adj" fmla="val 3636"/>
            </a:avLst>
          </a:prstGeom>
          <a:solidFill>
            <a:srgbClr val="F7F9FD"/>
          </a:solidFill>
          <a:ln w="13335">
            <a:solidFill>
              <a:srgbClr val="4961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496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journey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3493008"/>
            <a:ext cx="11521440" cy="9144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3335">
            <a:solidFill>
              <a:srgbClr val="111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216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C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 AI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4718304"/>
            <a:ext cx="11521440" cy="1207008"/>
          </a:xfrm>
          <a:prstGeom prst="roundRect">
            <a:avLst>
              <a:gd name="adj" fmla="val 6061"/>
            </a:avLst>
          </a:prstGeom>
          <a:solidFill>
            <a:srgbClr val="F3ECF8"/>
          </a:solidFill>
          <a:ln w="13335">
            <a:solidFill>
              <a:srgbClr val="6F2C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9469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6F2C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57200" y="524865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point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840480" y="1664208"/>
            <a:ext cx="384048" cy="0"/>
          </a:xfrm>
          <a:prstGeom prst="line">
            <a:avLst/>
          </a:prstGeom>
          <a:noFill/>
          <a:ln w="13970">
            <a:solidFill>
              <a:srgbClr val="4961E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86600" y="1664208"/>
            <a:ext cx="365760" cy="0"/>
          </a:xfrm>
          <a:prstGeom prst="line">
            <a:avLst/>
          </a:prstGeom>
          <a:noFill/>
          <a:ln w="13970">
            <a:solidFill>
              <a:srgbClr val="4961E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49640" y="1664208"/>
            <a:ext cx="438912" cy="0"/>
          </a:xfrm>
          <a:prstGeom prst="line">
            <a:avLst/>
          </a:prstGeom>
          <a:noFill/>
          <a:ln w="13970">
            <a:solidFill>
              <a:srgbClr val="4961E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12680" y="1901952"/>
            <a:ext cx="0" cy="457200"/>
          </a:xfrm>
          <a:prstGeom prst="line">
            <a:avLst/>
          </a:prstGeom>
          <a:noFill/>
          <a:ln w="13970">
            <a:solidFill>
              <a:srgbClr val="4961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2039112"/>
            <a:ext cx="0" cy="283464"/>
          </a:xfrm>
          <a:prstGeom prst="line">
            <a:avLst/>
          </a:prstGeom>
          <a:noFill/>
          <a:ln w="13970">
            <a:solidFill>
              <a:srgbClr val="A62A1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12680" y="2834640"/>
            <a:ext cx="0" cy="658368"/>
          </a:xfrm>
          <a:prstGeom prst="line">
            <a:avLst/>
          </a:prstGeom>
          <a:noFill/>
          <a:ln w="1270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32120" y="4133088"/>
            <a:ext cx="0" cy="987552"/>
          </a:xfrm>
          <a:prstGeom prst="line">
            <a:avLst/>
          </a:prstGeom>
          <a:noFill/>
          <a:ln w="12700">
            <a:solidFill>
              <a:srgbClr val="4961E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0" y="3950208"/>
            <a:ext cx="1143000" cy="0"/>
          </a:xfrm>
          <a:prstGeom prst="line">
            <a:avLst/>
          </a:prstGeom>
          <a:noFill/>
          <a:ln w="12700">
            <a:solidFill>
              <a:srgbClr val="A62A1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331720" y="1417320"/>
            <a:ext cx="150876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4961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496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Client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496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consumer / developer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4224528" y="1417320"/>
            <a:ext cx="286207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4961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6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Portal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96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&amp; onboarding gateway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52360" y="1261872"/>
            <a:ext cx="1097280" cy="804672"/>
          </a:xfrm>
          <a:prstGeom prst="diamond">
            <a:avLst/>
          </a:prstGeom>
          <a:solidFill>
            <a:srgbClr val="6E6BD2"/>
          </a:solidFill>
          <a:ln w="12700">
            <a:solidFill>
              <a:srgbClr val="6E6B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47218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Domicile &amp; IP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988552" y="1417320"/>
            <a:ext cx="2048256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Interface (UI)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interaction layer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42632" y="2331720"/>
            <a:ext cx="132588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A62A1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A62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Denied</a:t>
            </a:r>
            <a:endParaRPr lang="en-US" sz="770" dirty="0"/>
          </a:p>
          <a:p>
            <a:pPr algn="ctr" indent="0" marL="0">
              <a:buNone/>
            </a:pPr>
            <a:r>
              <a:rPr lang="en-US" sz="770" b="1" dirty="0">
                <a:solidFill>
                  <a:srgbClr val="A62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blocked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3703320" y="3703320"/>
            <a:ext cx="2880360" cy="493776"/>
          </a:xfrm>
          <a:prstGeom prst="roundRect">
            <a:avLst>
              <a:gd name="adj" fmla="val 12963"/>
            </a:avLst>
          </a:prstGeom>
          <a:solidFill>
            <a:srgbClr val="111C3A"/>
          </a:solidFill>
          <a:ln w="12700">
            <a:solidFill>
              <a:srgbClr val="111C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 AI Platform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router · session manager · R2D2 gateway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726680" y="3703320"/>
            <a:ext cx="20574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A62A1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62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Handler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A62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TIM or OBM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03320" y="5138928"/>
            <a:ext cx="36576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4961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496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citiconnect_root_agent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496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orchestrator — entry point; delegates to parallel + synthesizer agents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8229600" y="5138928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orchestration tree</a:t>
            </a:r>
            <a:endParaRPr lang="en-US" sz="910" dirty="0"/>
          </a:p>
        </p:txBody>
      </p:sp>
      <p:sp>
        <p:nvSpPr>
          <p:cNvPr id="33" name="Text 31"/>
          <p:cNvSpPr/>
          <p:nvPr/>
        </p:nvSpPr>
        <p:spPr>
          <a:xfrm>
            <a:off x="8549640" y="123444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590" dirty="0"/>
          </a:p>
        </p:txBody>
      </p:sp>
      <p:sp>
        <p:nvSpPr>
          <p:cNvPr id="34" name="Text 32"/>
          <p:cNvSpPr/>
          <p:nvPr/>
        </p:nvSpPr>
        <p:spPr>
          <a:xfrm>
            <a:off x="7754112" y="21305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A62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denied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9372600" y="214884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submitted</a:t>
            </a:r>
            <a:endParaRPr lang="en-US" sz="590" dirty="0"/>
          </a:p>
        </p:txBody>
      </p:sp>
      <p:sp>
        <p:nvSpPr>
          <p:cNvPr id="36" name="Text 34"/>
          <p:cNvSpPr/>
          <p:nvPr/>
        </p:nvSpPr>
        <p:spPr>
          <a:xfrm>
            <a:off x="6812280" y="38221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A62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error</a:t>
            </a:r>
            <a:endParaRPr lang="en-US" sz="590" dirty="0"/>
          </a:p>
        </p:txBody>
      </p:sp>
      <p:sp>
        <p:nvSpPr>
          <p:cNvPr id="37" name="Text 35"/>
          <p:cNvSpPr/>
          <p:nvPr/>
        </p:nvSpPr>
        <p:spPr>
          <a:xfrm>
            <a:off x="5669280" y="449884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query · first pass</a:t>
            </a:r>
            <a:endParaRPr lang="en-US" sz="590" dirty="0"/>
          </a:p>
        </p:txBody>
      </p:sp>
      <p:sp>
        <p:nvSpPr>
          <p:cNvPr id="38" name="Text 36"/>
          <p:cNvSpPr/>
          <p:nvPr/>
        </p:nvSpPr>
        <p:spPr>
          <a:xfrm>
            <a:off x="320040" y="6583680"/>
            <a:ext cx="1152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 architecture — slide 1 of 2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82880"/>
            <a:ext cx="1147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96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CitiConnect Phase 2: Multi-agent orchestration tree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694944"/>
            <a:ext cx="11292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agent fans out to a parallel orchestrator, three domain stacks run with planner/analyst agents and tools, and a synthesizer returns the final response.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28" y="93268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agents are powered by Google Gemini via R2D2.</a:t>
            </a:r>
            <a:endParaRPr lang="en-US" sz="71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11521440" cy="987552"/>
          </a:xfrm>
          <a:prstGeom prst="roundRect">
            <a:avLst>
              <a:gd name="adj" fmla="val 7407"/>
            </a:avLst>
          </a:prstGeom>
          <a:solidFill>
            <a:srgbClr val="F3ECF8"/>
          </a:solidFill>
          <a:ln w="13335">
            <a:solidFill>
              <a:srgbClr val="6F2C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6F2C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+ synth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11521440" cy="914400"/>
          </a:xfrm>
          <a:prstGeom prst="roundRect">
            <a:avLst>
              <a:gd name="adj" fmla="val 8000"/>
            </a:avLst>
          </a:prstGeom>
          <a:solidFill>
            <a:srgbClr val="EAF7F4"/>
          </a:solidFill>
          <a:ln w="13335">
            <a:solidFill>
              <a:srgbClr val="00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7A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agents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57200" y="29535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stacks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3611880"/>
            <a:ext cx="11521440" cy="1325880"/>
          </a:xfrm>
          <a:prstGeom prst="roundRect">
            <a:avLst>
              <a:gd name="adj" fmla="val 5517"/>
            </a:avLst>
          </a:prstGeom>
          <a:solidFill>
            <a:srgbClr val="FFF2E1"/>
          </a:solidFill>
          <a:ln w="13335">
            <a:solidFill>
              <a:srgbClr val="C24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04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C24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Sub-agents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57200" y="414223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5230368"/>
            <a:ext cx="11521440" cy="987552"/>
          </a:xfrm>
          <a:prstGeom prst="roundRect">
            <a:avLst>
              <a:gd name="adj" fmla="val 7407"/>
            </a:avLst>
          </a:prstGeom>
          <a:solidFill>
            <a:srgbClr val="EEF4FF"/>
          </a:solidFill>
          <a:ln w="13335">
            <a:solidFill>
              <a:srgbClr val="1E5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4589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E56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Aggregation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57200" y="576072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434840" y="1627632"/>
            <a:ext cx="548640" cy="0"/>
          </a:xfrm>
          <a:prstGeom prst="line">
            <a:avLst/>
          </a:prstGeom>
          <a:noFill/>
          <a:ln w="13970">
            <a:solidFill>
              <a:srgbClr val="6F2C9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1627632"/>
            <a:ext cx="640080" cy="0"/>
          </a:xfrm>
          <a:prstGeom prst="line">
            <a:avLst/>
          </a:prstGeom>
          <a:noFill/>
          <a:ln w="13970">
            <a:solidFill>
              <a:srgbClr val="C02C7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91072" y="1874520"/>
            <a:ext cx="0" cy="393192"/>
          </a:xfrm>
          <a:prstGeom prst="line">
            <a:avLst/>
          </a:prstGeom>
          <a:noFill/>
          <a:ln w="12700">
            <a:solidFill>
              <a:srgbClr val="6F2C9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17520" y="2267712"/>
            <a:ext cx="6656832" cy="0"/>
          </a:xfrm>
          <a:prstGeom prst="line">
            <a:avLst/>
          </a:prstGeom>
          <a:noFill/>
          <a:ln w="11430">
            <a:solidFill>
              <a:srgbClr val="6F2C91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017520" y="2267712"/>
            <a:ext cx="0" cy="310896"/>
          </a:xfrm>
          <a:prstGeom prst="line">
            <a:avLst/>
          </a:prstGeom>
          <a:noFill/>
          <a:ln w="12700">
            <a:solidFill>
              <a:srgbClr val="6F2C9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91072" y="2267712"/>
            <a:ext cx="0" cy="310896"/>
          </a:xfrm>
          <a:prstGeom prst="line">
            <a:avLst/>
          </a:prstGeom>
          <a:noFill/>
          <a:ln w="12700">
            <a:solidFill>
              <a:srgbClr val="6F2C9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74352" y="2267712"/>
            <a:ext cx="0" cy="310896"/>
          </a:xfrm>
          <a:prstGeom prst="line">
            <a:avLst/>
          </a:prstGeom>
          <a:noFill/>
          <a:ln w="12700">
            <a:solidFill>
              <a:srgbClr val="6F2C9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17520" y="3063240"/>
            <a:ext cx="0" cy="713232"/>
          </a:xfrm>
          <a:prstGeom prst="line">
            <a:avLst/>
          </a:prstGeom>
          <a:noFill/>
          <a:ln w="12700">
            <a:solidFill>
              <a:srgbClr val="9E761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91072" y="3063240"/>
            <a:ext cx="0" cy="713232"/>
          </a:xfrm>
          <a:prstGeom prst="line">
            <a:avLst/>
          </a:prstGeom>
          <a:noFill/>
          <a:ln w="12700">
            <a:solidFill>
              <a:srgbClr val="4D8D4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74352" y="3063240"/>
            <a:ext cx="0" cy="713232"/>
          </a:xfrm>
          <a:prstGeom prst="line">
            <a:avLst/>
          </a:prstGeom>
          <a:noFill/>
          <a:ln w="12700">
            <a:solidFill>
              <a:srgbClr val="4D8D4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17520" y="4261104"/>
            <a:ext cx="0" cy="1179576"/>
          </a:xfrm>
          <a:prstGeom prst="line">
            <a:avLst/>
          </a:prstGeom>
          <a:noFill/>
          <a:ln w="12700">
            <a:solidFill>
              <a:srgbClr val="9AB79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91072" y="4663440"/>
            <a:ext cx="0" cy="777240"/>
          </a:xfrm>
          <a:prstGeom prst="line">
            <a:avLst/>
          </a:prstGeom>
          <a:noFill/>
          <a:ln w="12700">
            <a:solidFill>
              <a:srgbClr val="9AB79E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674352" y="4663440"/>
            <a:ext cx="0" cy="777240"/>
          </a:xfrm>
          <a:prstGeom prst="line">
            <a:avLst/>
          </a:prstGeom>
          <a:noFill/>
          <a:ln w="12700">
            <a:solidFill>
              <a:srgbClr val="9AB79E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4389120" y="5733288"/>
            <a:ext cx="685800" cy="0"/>
          </a:xfrm>
          <a:prstGeom prst="line">
            <a:avLst/>
          </a:prstGeom>
          <a:noFill/>
          <a:ln w="12700">
            <a:solidFill>
              <a:srgbClr val="1E56C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43800" y="5733288"/>
            <a:ext cx="731520" cy="0"/>
          </a:xfrm>
          <a:prstGeom prst="line">
            <a:avLst/>
          </a:prstGeom>
          <a:noFill/>
          <a:ln w="12700">
            <a:solidFill>
              <a:srgbClr val="1E56C9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331720" y="1371600"/>
            <a:ext cx="21031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4961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96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citiconnect_root_agent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496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Entry-point orchestrator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4983480" y="1371600"/>
            <a:ext cx="26060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citiconnect_parallel_agent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Fans out to domain agents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8229600" y="1371600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02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2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citiconnect_synthesizer_agent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02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outputs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103120" y="2596896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9E761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 domain agent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5166360" y="2596896"/>
            <a:ext cx="22402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0B4E5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4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capgrid_agent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4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Grid orchestrator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8549640" y="2596896"/>
            <a:ext cx="22402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citiconnect_cms_agent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CMS domain orchestrator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2103120" y="3785616"/>
            <a:ext cx="685800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9E761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540" dirty="0"/>
          </a:p>
          <a:p>
            <a:pPr algn="ctr" indent="0" marL="0">
              <a:buNone/>
            </a:pPr>
            <a:r>
              <a:rPr lang="en-US" sz="54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fi_rules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2852928" y="3785616"/>
            <a:ext cx="640080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9E761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540" dirty="0"/>
          </a:p>
          <a:p>
            <a:pPr algn="ctr" indent="0" marL="0">
              <a:buNone/>
            </a:pPr>
            <a:r>
              <a:rPr lang="en-US" sz="54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plaid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3566160" y="3785616"/>
            <a:ext cx="768096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9E761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510" dirty="0"/>
          </a:p>
          <a:p>
            <a:pPr algn="ctr" indent="0" marL="0">
              <a:buNone/>
            </a:pPr>
            <a:r>
              <a:rPr lang="en-US" sz="51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specs_files</a:t>
            </a:r>
            <a:endParaRPr lang="en-US" sz="510" dirty="0"/>
          </a:p>
        </p:txBody>
      </p:sp>
      <p:sp>
        <p:nvSpPr>
          <p:cNvPr id="42" name="Text 40"/>
          <p:cNvSpPr/>
          <p:nvPr/>
        </p:nvSpPr>
        <p:spPr>
          <a:xfrm>
            <a:off x="4407408" y="3785616"/>
            <a:ext cx="768096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9E761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510" dirty="0"/>
          </a:p>
          <a:p>
            <a:pPr algn="ctr" indent="0" marL="0">
              <a:buNone/>
            </a:pPr>
            <a:r>
              <a:rPr lang="en-US" sz="510" b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510" dirty="0"/>
          </a:p>
        </p:txBody>
      </p:sp>
      <p:sp>
        <p:nvSpPr>
          <p:cNvPr id="43" name="Text 41"/>
          <p:cNvSpPr/>
          <p:nvPr/>
        </p:nvSpPr>
        <p:spPr>
          <a:xfrm>
            <a:off x="2651760" y="3630168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9E76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 leaf tools</a:t>
            </a:r>
            <a:endParaRPr lang="en-US" sz="590" dirty="0"/>
          </a:p>
        </p:txBody>
      </p:sp>
      <p:sp>
        <p:nvSpPr>
          <p:cNvPr id="44" name="Text 42"/>
          <p:cNvSpPr/>
          <p:nvPr/>
        </p:nvSpPr>
        <p:spPr>
          <a:xfrm>
            <a:off x="5486400" y="3767328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4D8D4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4D8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4D8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640" dirty="0"/>
          </a:p>
        </p:txBody>
      </p:sp>
      <p:sp>
        <p:nvSpPr>
          <p:cNvPr id="45" name="Text 43"/>
          <p:cNvSpPr/>
          <p:nvPr/>
        </p:nvSpPr>
        <p:spPr>
          <a:xfrm>
            <a:off x="6903720" y="3767328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4D8D4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4D8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4D8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</a:t>
            </a:r>
            <a:endParaRPr lang="en-US" sz="640" dirty="0"/>
          </a:p>
        </p:txBody>
      </p:sp>
      <p:sp>
        <p:nvSpPr>
          <p:cNvPr id="46" name="Text 44"/>
          <p:cNvSpPr/>
          <p:nvPr/>
        </p:nvSpPr>
        <p:spPr>
          <a:xfrm>
            <a:off x="5486400" y="4389120"/>
            <a:ext cx="128016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C24A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510" dirty="0"/>
          </a:p>
          <a:p>
            <a:pPr algn="ctr" indent="0" marL="0">
              <a:buNone/>
            </a:pPr>
            <a:r>
              <a:rPr lang="en-US" sz="51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510" dirty="0"/>
          </a:p>
        </p:txBody>
      </p:sp>
      <p:sp>
        <p:nvSpPr>
          <p:cNvPr id="47" name="Text 45"/>
          <p:cNvSpPr/>
          <p:nvPr/>
        </p:nvSpPr>
        <p:spPr>
          <a:xfrm>
            <a:off x="6903720" y="4389120"/>
            <a:ext cx="128016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C24A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510" dirty="0"/>
          </a:p>
          <a:p>
            <a:pPr algn="ctr" indent="0" marL="0">
              <a:buNone/>
            </a:pPr>
            <a:r>
              <a:rPr lang="en-US" sz="51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</a:t>
            </a:r>
            <a:endParaRPr lang="en-US" sz="510" dirty="0"/>
          </a:p>
        </p:txBody>
      </p:sp>
      <p:sp>
        <p:nvSpPr>
          <p:cNvPr id="48" name="Text 46"/>
          <p:cNvSpPr/>
          <p:nvPr/>
        </p:nvSpPr>
        <p:spPr>
          <a:xfrm>
            <a:off x="5669280" y="3630168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0B4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CapGrid planner / analyst + tools</a:t>
            </a:r>
            <a:endParaRPr lang="en-US" sz="590" dirty="0"/>
          </a:p>
        </p:txBody>
      </p:sp>
      <p:sp>
        <p:nvSpPr>
          <p:cNvPr id="49" name="Text 47"/>
          <p:cNvSpPr/>
          <p:nvPr/>
        </p:nvSpPr>
        <p:spPr>
          <a:xfrm>
            <a:off x="8732520" y="3767328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4D8D4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4D8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cms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4D8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640" dirty="0"/>
          </a:p>
        </p:txBody>
      </p:sp>
      <p:sp>
        <p:nvSpPr>
          <p:cNvPr id="50" name="Text 48"/>
          <p:cNvSpPr/>
          <p:nvPr/>
        </p:nvSpPr>
        <p:spPr>
          <a:xfrm>
            <a:off x="10149840" y="3767328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4D8D4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4D8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cms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4D8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8732520" y="4389120"/>
            <a:ext cx="128016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C24A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510" dirty="0"/>
          </a:p>
          <a:p>
            <a:pPr algn="ctr" indent="0" marL="0">
              <a:buNone/>
            </a:pPr>
            <a:r>
              <a:rPr lang="en-US" sz="51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510" dirty="0"/>
          </a:p>
        </p:txBody>
      </p:sp>
      <p:sp>
        <p:nvSpPr>
          <p:cNvPr id="52" name="Text 50"/>
          <p:cNvSpPr/>
          <p:nvPr/>
        </p:nvSpPr>
        <p:spPr>
          <a:xfrm>
            <a:off x="10149840" y="4389120"/>
            <a:ext cx="128016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C24A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cms</a:t>
            </a:r>
            <a:endParaRPr lang="en-US" sz="510" dirty="0"/>
          </a:p>
          <a:p>
            <a:pPr algn="ctr" indent="0" marL="0">
              <a:buNone/>
            </a:pPr>
            <a:r>
              <a:rPr lang="en-US" sz="51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510" dirty="0"/>
          </a:p>
        </p:txBody>
      </p:sp>
      <p:sp>
        <p:nvSpPr>
          <p:cNvPr id="53" name="Text 51"/>
          <p:cNvSpPr/>
          <p:nvPr/>
        </p:nvSpPr>
        <p:spPr>
          <a:xfrm>
            <a:off x="8869680" y="363016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CMS planner / analyst + tools</a:t>
            </a:r>
            <a:endParaRPr lang="en-US" sz="590" dirty="0"/>
          </a:p>
        </p:txBody>
      </p:sp>
      <p:sp>
        <p:nvSpPr>
          <p:cNvPr id="54" name="Text 52"/>
          <p:cNvSpPr/>
          <p:nvPr/>
        </p:nvSpPr>
        <p:spPr>
          <a:xfrm>
            <a:off x="2331720" y="5468112"/>
            <a:ext cx="20574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Data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Aggregated domain outputs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5074920" y="5468112"/>
            <a:ext cx="24688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02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02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Synthesizer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C02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final response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8275320" y="5468112"/>
            <a:ext cx="22402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Interface (UI)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displayed to user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4434840" y="554126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C02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responses</a:t>
            </a:r>
            <a:endParaRPr lang="en-US" sz="590" dirty="0"/>
          </a:p>
        </p:txBody>
      </p:sp>
      <p:sp>
        <p:nvSpPr>
          <p:cNvPr id="58" name="Text 56"/>
          <p:cNvSpPr/>
          <p:nvPr/>
        </p:nvSpPr>
        <p:spPr>
          <a:xfrm>
            <a:off x="7571232" y="554126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i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response</a:t>
            </a:r>
            <a:endParaRPr lang="en-US" sz="590" dirty="0"/>
          </a:p>
        </p:txBody>
      </p:sp>
      <p:sp>
        <p:nvSpPr>
          <p:cNvPr id="59" name="Text 57"/>
          <p:cNvSpPr/>
          <p:nvPr/>
        </p:nvSpPr>
        <p:spPr>
          <a:xfrm>
            <a:off x="320040" y="6583680"/>
            <a:ext cx="1152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CitiConnect architecture — slide 2 of 2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CitiConnect Architecture</dc:title>
  <dc:subject>CitiConnect architecture diagrams in the Data Assist / CitiDirect swim-lane format</dc:subject>
  <dc:creator>OpenAI</dc:creator>
  <cp:lastModifiedBy>OpenAI</cp:lastModifiedBy>
  <cp:revision>1</cp:revision>
  <dcterms:created xsi:type="dcterms:W3CDTF">2026-07-15T13:03:55Z</dcterms:created>
  <dcterms:modified xsi:type="dcterms:W3CDTF">2026-07-15T13:03:55Z</dcterms:modified>
</cp:coreProperties>
</file>