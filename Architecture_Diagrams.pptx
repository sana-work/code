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1051560" cy="137160"/>
          </a:xfrm>
          <a:prstGeom prst="roundRect">
            <a:avLst>
              <a:gd name="adj" fmla="val 26667"/>
            </a:avLst>
          </a:prstGeom>
          <a:solidFill>
            <a:srgbClr val="4961E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C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8928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Assist Phase 1 and CitiDirect Chat Phase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65836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platform swim-lane views: natural-language query to insights, and chat channel to entitlement-filtered APIs.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AF7F4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Assist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 query → agents → SQL → insights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3749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3ECF8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CitiDirect Chat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request → orchestration → tools/APIs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3749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AF0F8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lenses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Planes, controls, agents, data boundary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583680"/>
            <a:ext cx="11247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uploaded architecture reference decks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Assist Phase 1: Natural language query to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694944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Numbered flow traces one NL question through business app, service mesh, agent execution, data services, and model inference.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0" y="1719072"/>
            <a:ext cx="0" cy="20116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2331720"/>
            <a:ext cx="0" cy="182880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907792"/>
            <a:ext cx="274320" cy="0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4279392"/>
            <a:ext cx="0" cy="33832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4279392"/>
            <a:ext cx="0" cy="33832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84080" y="4279392"/>
            <a:ext cx="0" cy="33832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097280"/>
            <a:ext cx="11201400" cy="804672"/>
          </a:xfrm>
          <a:prstGeom prst="roundRect">
            <a:avLst>
              <a:gd name="adj" fmla="val 11364"/>
            </a:avLst>
          </a:prstGeom>
          <a:solidFill>
            <a:srgbClr val="F3ECF8"/>
          </a:solidFill>
          <a:ln w="13970">
            <a:solidFill>
              <a:srgbClr val="6F2C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80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51790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2240280" y="1225296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interface — web app / chatbot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 for user query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40680" y="1225296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and ALE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30768" y="1225296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LOB apps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50208" y="19202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Natural language query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" y="2029968"/>
            <a:ext cx="11201400" cy="438912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3970">
            <a:solidFill>
              <a:srgbClr val="28314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mesh + sharding — Data Assist shard · service mesh control panel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50208" y="249631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Query received by orchestrator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2697480"/>
            <a:ext cx="11201400" cy="1755648"/>
          </a:xfrm>
          <a:prstGeom prst="roundRect">
            <a:avLst>
              <a:gd name="adj" fmla="val 5208"/>
            </a:avLst>
          </a:prstGeom>
          <a:solidFill>
            <a:srgbClr val="EAF7F4"/>
          </a:solidFill>
          <a:ln w="13970">
            <a:solidFill>
              <a:srgbClr val="00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80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plane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11810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+ reasoning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2240280" y="2852928"/>
            <a:ext cx="2423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orchestrator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the DAG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074920" y="2852928"/>
            <a:ext cx="2423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engine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agent plan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662672" y="298094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Executes agent plan step by step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40280" y="350215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i="1" dirty="0">
                <a:solidFill>
                  <a:srgbClr val="7180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executors — defined on platform, Arc compliant: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2240280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/ domain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227832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215384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context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02936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generator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6190488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validator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7178040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8165592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9153144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executor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0140696" y="374904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A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/ viz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2194560" y="446227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4·7 · Metadata + run query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35040" y="446227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5·8 · Schema + raw results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875520" y="44622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· LLM inference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4681728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EEF4FF"/>
          </a:solidFill>
          <a:ln w="13970">
            <a:solidFill>
              <a:srgbClr val="1E56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64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Vanguard services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510235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data services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777240" y="525780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APIs</a:t>
            </a:r>
            <a:endParaRPr lang="en-US" sz="710" dirty="0"/>
          </a:p>
        </p:txBody>
      </p:sp>
      <p:sp>
        <p:nvSpPr>
          <p:cNvPr id="43" name="Text 41"/>
          <p:cNvSpPr/>
          <p:nvPr/>
        </p:nvSpPr>
        <p:spPr>
          <a:xfrm>
            <a:off x="2450592" y="5257800"/>
            <a:ext cx="135331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Entitlements API</a:t>
            </a:r>
            <a:endParaRPr lang="en-US" sz="710" dirty="0"/>
          </a:p>
        </p:txBody>
      </p:sp>
      <p:sp>
        <p:nvSpPr>
          <p:cNvPr id="44" name="Text 42"/>
          <p:cNvSpPr/>
          <p:nvPr/>
        </p:nvSpPr>
        <p:spPr>
          <a:xfrm>
            <a:off x="777240" y="5650992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+ DQ rules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2450592" y="5650992"/>
            <a:ext cx="135331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executor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Starburst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4251960" y="4681728"/>
            <a:ext cx="3703320" cy="1481328"/>
          </a:xfrm>
          <a:prstGeom prst="roundRect">
            <a:avLst>
              <a:gd name="adj" fmla="val 6173"/>
            </a:avLst>
          </a:prstGeom>
          <a:solidFill>
            <a:srgbClr val="FFF2E1"/>
          </a:solidFill>
          <a:ln w="13970">
            <a:solidFill>
              <a:srgbClr val="C24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4864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+ data plane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0" y="510235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memory, context + data sources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4526280" y="5230368"/>
            <a:ext cx="32461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397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 / graph DB — semantic search + context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4526280" y="5504688"/>
            <a:ext cx="32461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397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profile + feedback — agent tuning loop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526280" y="5870448"/>
            <a:ext cx="32461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397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+ retrieval services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8138160" y="4681728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3ECF8"/>
          </a:solidFill>
          <a:ln w="13970">
            <a:solidFill>
              <a:srgbClr val="6F2C9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75320" y="4864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plane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75320" y="510235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training + inference</a:t>
            </a:r>
            <a:endParaRPr lang="en-US" sz="770" dirty="0"/>
          </a:p>
        </p:txBody>
      </p:sp>
      <p:sp>
        <p:nvSpPr>
          <p:cNvPr id="55" name="Text 53"/>
          <p:cNvSpPr/>
          <p:nvPr/>
        </p:nvSpPr>
        <p:spPr>
          <a:xfrm>
            <a:off x="8412480" y="5285232"/>
            <a:ext cx="29718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GCP Gemini / Anthropic Claude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8412480" y="5696712"/>
            <a:ext cx="29718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generation + insight summarization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02920" y="6181344"/>
            <a:ext cx="11201400" cy="237744"/>
          </a:xfrm>
          <a:prstGeom prst="roundRect">
            <a:avLst>
              <a:gd name="adj" fmla="val 23077"/>
            </a:avLst>
          </a:prstGeom>
          <a:solidFill>
            <a:srgbClr val="111C3A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flow   1 NL query → 2 service mesh → 3 orchestrator + agent plan → 4 fetch metadata → 5 schema info → 6 execute SQL → 7 run on Vanguard → 8 raw results → 9 insights + visualizations → UI ✓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502920" y="6583680"/>
            <a:ext cx="11247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Assist architecture diagram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96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CitiDirect Chat Phase 2: High-level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694944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channel in; planner/orchestrator dispatch through agents and MCP servers; entitlement-filtered APIs out.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39696" y="1508760"/>
            <a:ext cx="374904" cy="0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1819656"/>
            <a:ext cx="0" cy="24688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54880" y="2578608"/>
            <a:ext cx="320040" cy="0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99248" y="2578608"/>
            <a:ext cx="320040" cy="0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3090672"/>
            <a:ext cx="0" cy="310896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4361688"/>
            <a:ext cx="0" cy="301752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4361688"/>
            <a:ext cx="0" cy="301752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11880" y="5340096"/>
            <a:ext cx="0" cy="29260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5340096"/>
            <a:ext cx="0" cy="292608"/>
          </a:xfrm>
          <a:prstGeom prst="line">
            <a:avLst/>
          </a:prstGeom>
          <a:noFill/>
          <a:ln w="15875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1755648"/>
            <a:ext cx="0" cy="310896"/>
          </a:xfrm>
          <a:prstGeom prst="line">
            <a:avLst/>
          </a:prstGeom>
          <a:noFill/>
          <a:ln w="12700">
            <a:solidFill>
              <a:srgbClr val="AEB8C6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1170432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28314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CitiDirect user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 + M2M token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788920" y="1170432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CitiDirect chatbot channel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+ user-details management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823960" y="1170432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28314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 PC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2831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Monitors agents via event bus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462272" y="190195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+ M2M token + user details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2130552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3ECF8"/>
          </a:solidFill>
          <a:ln w="13970">
            <a:solidFill>
              <a:srgbClr val="6F2C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313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2C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255117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2423160" y="22860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execution plan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349240" y="22860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 service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+ dispatches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321040" y="228600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6F2C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bus (Kafka)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6F2C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task assignment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080760" y="32461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tasks to agents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456432"/>
            <a:ext cx="11201400" cy="932688"/>
          </a:xfrm>
          <a:prstGeom prst="roundRect">
            <a:avLst>
              <a:gd name="adj" fmla="val 9804"/>
            </a:avLst>
          </a:prstGeom>
          <a:solidFill>
            <a:srgbClr val="EAF7F4"/>
          </a:solidFill>
          <a:ln w="13970">
            <a:solidFill>
              <a:srgbClr val="00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39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plane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87705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Arc-secured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2423160" y="3657600"/>
            <a:ext cx="2560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query 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status + inquiry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349240" y="3657600"/>
            <a:ext cx="26060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 flows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321040" y="3657600"/>
            <a:ext cx="2788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007A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agent + extensible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0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agents via config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720840" y="446227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via MCP protocol call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4690872"/>
            <a:ext cx="11201400" cy="758952"/>
          </a:xfrm>
          <a:prstGeom prst="roundRect">
            <a:avLst>
              <a:gd name="adj" fmla="val 12048"/>
            </a:avLst>
          </a:prstGeom>
          <a:solidFill>
            <a:srgbClr val="FFF7EA"/>
          </a:solidFill>
          <a:ln w="13970">
            <a:solidFill>
              <a:srgbClr val="C24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8737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11149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2423160" y="4809744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tools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349240" y="4809744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970">
            <a:solidFill>
              <a:srgbClr val="C24A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C24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tools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720840" y="550468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 auth on every call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566928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3970">
            <a:solidFill>
              <a:srgbClr val="1E56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852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+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608990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2423160" y="5788152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query API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Entitlement-filtered → Payment DB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5349240" y="5788152"/>
            <a:ext cx="26060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970">
            <a:solidFill>
              <a:srgbClr val="1E56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 API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E5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Entitlement-filtered → Report DB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8366760" y="5870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59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data-level entitlement · result / data returned up the same path — agents never touch data directly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502920" y="6583680"/>
            <a:ext cx="11247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CitiDirect Chat architecture diagram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Diagrams</dc:title>
  <dc:subject>Architecture diagrams for Data Assist Phase 1 and CitiDirect Chat Phase 2</dc:subject>
  <dc:creator>OpenAI</dc:creator>
  <cp:lastModifiedBy>OpenAI</cp:lastModifiedBy>
  <cp:revision>1</cp:revision>
  <dcterms:created xsi:type="dcterms:W3CDTF">2026-07-15T12:39:45Z</dcterms:created>
  <dcterms:modified xsi:type="dcterms:W3CDTF">2026-07-15T12:39:45Z</dcterms:modified>
</cp:coreProperties>
</file>