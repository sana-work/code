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slide 2. Per-assist bullet details moved to speaker notes / backup slide. Vision &amp; principles removed here — slide 3 owns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version; keep the detailed 40-box blueprint (current slide 4) as an appendix slide to jump to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Merged slides 7 + 8. Current slide 6 (Arc detail) now follows this slide as the deep dive.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swim-lane version of the observability plane. Retains all key components from the original slide 10: 8 producers, 3 Kafka topics with retention, enrichment components, 5 storage tiers, 3 consumption surfaces, governance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5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AI: One platform, five domains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assist is a consumer of the same unified factory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6094476" y="2395728"/>
            <a:ext cx="0" cy="667512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H="1" flipV="1">
            <a:off x="3611880" y="2697480"/>
            <a:ext cx="1133856" cy="754380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7443216" y="2697480"/>
            <a:ext cx="1133856" cy="754380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611880" y="3817620"/>
            <a:ext cx="1133856" cy="1074420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43216" y="3817620"/>
            <a:ext cx="1133856" cy="1074420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45736" y="306324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0E1B3A"/>
          </a:solidFill>
          <a:ln/>
        </p:spPr>
      </p:sp>
      <p:sp>
        <p:nvSpPr>
          <p:cNvPr id="10" name="Text 8"/>
          <p:cNvSpPr/>
          <p:nvPr/>
        </p:nvSpPr>
        <p:spPr>
          <a:xfrm>
            <a:off x="4745736" y="32095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AI Platform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45736" y="35935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factory, five domains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45736" y="1481328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EEF3FE"/>
          </a:solidFill>
          <a:ln w="13970">
            <a:solidFill>
              <a:srgbClr val="2C6B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6362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assist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self-service, conversational + personalized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224028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4F5F7"/>
          </a:solidFill>
          <a:ln w="13970">
            <a:solidFill>
              <a:srgbClr val="AEB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322576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assist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0704" y="2633472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processing, prediction + next best action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77072" y="224028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BF0E8"/>
          </a:solidFill>
          <a:ln w="13970">
            <a:solidFill>
              <a:srgbClr val="C257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23376" y="2322576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4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assist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23376" y="2633472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customer + product context for service agents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443484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5EEFA"/>
          </a:solidFill>
          <a:ln w="13970">
            <a:solidFill>
              <a:srgbClr val="6B2D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517136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assist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0704" y="4828032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client intelligence + tailored materials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77072" y="443484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EFF6E9"/>
          </a:solidFill>
          <a:ln w="13970">
            <a:solidFill>
              <a:srgbClr val="3F7A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23376" y="4517136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6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assist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23376" y="4828032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acceleration + cross-domain data enablement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6035040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0E1B3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60350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needed a factory — not a one-off solution.”  Build once, scale everywhere.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5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blueprint: The planes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view — detailed component map in appendix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F5EEFA"/>
          </a:solidFill>
          <a:ln w="13970">
            <a:solidFill>
              <a:srgbClr val="6B2D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53896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2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plane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176479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Factory, governance + self-service: prompt lab, model eval, ML Ops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45352" y="1371600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F5EEFA"/>
          </a:solidFill>
          <a:ln w="13970">
            <a:solidFill>
              <a:srgbClr val="6B2D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453896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2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application plane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1656" y="176479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Omni-channel consumers: chat bots, LOB apps, workflow apps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084832"/>
            <a:ext cx="0" cy="256032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897112" y="2084832"/>
            <a:ext cx="0" cy="256032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377440"/>
            <a:ext cx="10908792" cy="621792"/>
          </a:xfrm>
          <a:prstGeom prst="roundRect">
            <a:avLst>
              <a:gd name="adj" fmla="val 10294"/>
            </a:avLst>
          </a:prstGeom>
          <a:solidFill>
            <a:srgbClr val="F4F5F7"/>
          </a:solidFill>
          <a:ln w="13970">
            <a:solidFill>
              <a:srgbClr val="AEB6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59736"/>
            <a:ext cx="1061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 + sharding — hybrid multi-cloud, multi-cluster routing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2999232"/>
            <a:ext cx="0" cy="256032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897112" y="2999232"/>
            <a:ext cx="0" cy="256032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3291840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E9F6F3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374136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plane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" y="368503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orchestration, reasoning, executor, supervisor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3291840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E9F6F3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3374136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tools 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91656" y="368503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server, platform tools, Data Assist capabilities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E9F6F3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197096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" y="450799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+ RAG services: query, generation, retrieval, guardrails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45352" y="4114800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E9F6F3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4197096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91656" y="450799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Memory, events, vectors, graph — S3, Kafka, structured stores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4828032"/>
            <a:ext cx="0" cy="256032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97112" y="4828032"/>
            <a:ext cx="0" cy="256032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0080" y="5120640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E9F6F3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5202936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plane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6384" y="551383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LLMs, SLMs, hosted ML, training + inference infrastructure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45352" y="5120640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F4F5F7"/>
          </a:solidFill>
          <a:ln w="13970">
            <a:solidFill>
              <a:srgbClr val="AEB6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656" y="5202936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2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tools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91656" y="551383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APIs, Vanguard API, account query + other APIs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614476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5EEFA"/>
          </a:solidFill>
          <a:ln w="12700">
            <a:solidFill>
              <a:srgbClr val="6B2D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0976" y="60899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+ control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0" y="614476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4F5F7"/>
          </a:solidFill>
          <a:ln w="12700">
            <a:solidFill>
              <a:srgbClr val="AEB6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85616" y="60899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+ external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614476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9F6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0256" y="60899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planes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5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plane: The business brain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Orchestrating intelligence, securing execution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542032" cy="1600200"/>
          </a:xfrm>
          <a:prstGeom prst="roundRect">
            <a:avLst>
              <a:gd name="adj" fmla="val 4000"/>
            </a:avLst>
          </a:prstGeom>
          <a:solidFill>
            <a:srgbClr val="EEF3FE"/>
          </a:solidFill>
          <a:ln w="13970">
            <a:solidFill>
              <a:srgbClr val="2C6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orchestration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1810512"/>
            <a:ext cx="22494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business use cases into multi-agent DAGs — all patterns via configuration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417320"/>
            <a:ext cx="2542032" cy="1600200"/>
          </a:xfrm>
          <a:prstGeom prst="roundRect">
            <a:avLst>
              <a:gd name="adj" fmla="val 4000"/>
            </a:avLst>
          </a:prstGeom>
          <a:solidFill>
            <a:srgbClr val="F5EEFA"/>
          </a:solidFill>
          <a:ln w="13970">
            <a:solidFill>
              <a:srgbClr val="6B2D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5304" y="14996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2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/ planner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75304" y="1810512"/>
            <a:ext cx="22494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Decomposes goals into ordered tasks; agent selection + branching logic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542032" cy="1600200"/>
          </a:xfrm>
          <a:prstGeom prst="roundRect">
            <a:avLst>
              <a:gd name="adj" fmla="val 4000"/>
            </a:avLst>
          </a:prstGeom>
          <a:solidFill>
            <a:srgbClr val="FBF0E8"/>
          </a:solidFill>
          <a:ln w="13970">
            <a:solidFill>
              <a:srgbClr val="C257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4996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4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64224" y="1810512"/>
            <a:ext cx="22494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health in real time — retries, SLA enforcement, terminates rogue agents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1417320"/>
            <a:ext cx="2542032" cy="1600200"/>
          </a:xfrm>
          <a:prstGeom prst="roundRect">
            <a:avLst>
              <a:gd name="adj" fmla="val 4000"/>
            </a:avLst>
          </a:prstGeom>
          <a:solidFill>
            <a:srgbClr val="E9F6F3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3144" y="14996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executor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53144" y="1810512"/>
            <a:ext cx="22494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each task in a secure, isolated environment — Arc compliant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82112" y="2217420"/>
            <a:ext cx="246888" cy="0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71032" y="2217420"/>
            <a:ext cx="246888" cy="0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59952" y="2217420"/>
            <a:ext cx="246888" cy="0"/>
          </a:xfrm>
          <a:prstGeom prst="line">
            <a:avLst/>
          </a:prstGeom>
          <a:noFill/>
          <a:ln w="1587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3310128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0E1B3A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341985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runtime — secure execution substrate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" y="378561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runtime for every agent invocation — one agent, one tenant, one runtime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3493008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20315E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86600" y="3813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B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per task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567928" y="3493008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20315E"/>
          </a:solidFill>
          <a:ln/>
        </p:spPr>
      </p:sp>
      <p:sp>
        <p:nvSpPr>
          <p:cNvPr id="26" name="Text 24"/>
          <p:cNvSpPr/>
          <p:nvPr/>
        </p:nvSpPr>
        <p:spPr>
          <a:xfrm>
            <a:off x="8567928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67928" y="3813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B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enforcement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049256" y="3493008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20315E"/>
          </a:solidFill>
          <a:ln/>
        </p:spPr>
      </p:sp>
      <p:sp>
        <p:nvSpPr>
          <p:cNvPr id="29" name="Text 27"/>
          <p:cNvSpPr/>
          <p:nvPr/>
        </p:nvSpPr>
        <p:spPr>
          <a:xfrm>
            <a:off x="10049256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49256" y="3813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B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injection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" y="461772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EFF6E9"/>
          </a:solidFill>
          <a:ln w="13970">
            <a:solidFill>
              <a:srgbClr val="3F7A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4700016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6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+ resilient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6384" y="5010912"/>
            <a:ext cx="5010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resume automatically after any crash or loop-out via the async event backbone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45352" y="461772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5F7"/>
          </a:solidFill>
          <a:ln w="13970">
            <a:solidFill>
              <a:srgbClr val="AEB6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1656" y="4700016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2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configuration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91656" y="5010912"/>
            <a:ext cx="5010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cases, agents and tools configured via registry — zero custom orchestration code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5806440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0E1B3A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8064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defines what agents do together; Arc guarantees how each one runs.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5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plane: Telemetry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capture, enrichment, storage, dashboards and chatbot access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74520" cy="859536"/>
          </a:xfrm>
          <a:prstGeom prst="roundRect">
            <a:avLst>
              <a:gd name="adj" fmla="val 6383"/>
            </a:avLst>
          </a:prstGeom>
          <a:solidFill>
            <a:srgbClr val="EEF3FE"/>
          </a:solidFill>
          <a:ln w="13970">
            <a:solidFill>
              <a:srgbClr val="2C6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7160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Producers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1664208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services · 38 event types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14600" y="1298448"/>
            <a:ext cx="9281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SDK / OpenTelemetry — standard events, logs, metrics, spans · correlation ID propagation · GLiNER PII redactor · Kafka fire-and-forget emitter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1554480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2C6B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1554480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86175" y="1554480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2C6B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2751" y="1554480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57750" y="1554480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2C6B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4326" y="1554480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event bus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29325" y="1554480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2C6B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5901" y="1554480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00900" y="1554480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2C6B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7476" y="1554480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runtime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372475" y="1554480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2C6B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09051" y="1554480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/ models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544050" y="1554480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2C6B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0626" y="1554480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tools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715625" y="1554480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2C6B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52201" y="1554480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/ guardrails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231136"/>
            <a:ext cx="1874520" cy="859536"/>
          </a:xfrm>
          <a:prstGeom prst="roundRect">
            <a:avLst>
              <a:gd name="adj" fmla="val 6383"/>
            </a:avLst>
          </a:prstGeom>
          <a:solidFill>
            <a:srgbClr val="F5EEFA"/>
          </a:solidFill>
          <a:ln w="13970">
            <a:solidFill>
              <a:srgbClr val="6B2D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322576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2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Kafka transport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2615184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durable topics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2249424"/>
            <a:ext cx="9281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Durable, scalable event transport — compaction + partitioning for scale and cost · enrichment consumer validates, enriches and routes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14600" y="2505456"/>
            <a:ext cx="3032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6B2D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2551176"/>
            <a:ext cx="294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ai-obs-events-raw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0320" y="2770632"/>
            <a:ext cx="294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topic · 7-day retention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38800" y="2505456"/>
            <a:ext cx="3032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6B2D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4520" y="2551176"/>
            <a:ext cx="294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ai-obs-events-processed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84520" y="2770632"/>
            <a:ext cx="294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by type · 3-day retention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763000" y="2505456"/>
            <a:ext cx="3032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6B2D8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08720" y="2551176"/>
            <a:ext cx="294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ai-obs-dead-letter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08720" y="2770632"/>
            <a:ext cx="294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/ failed · 14-day retention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182112"/>
            <a:ext cx="1874520" cy="859536"/>
          </a:xfrm>
          <a:prstGeom prst="roundRect">
            <a:avLst>
              <a:gd name="adj" fmla="val 6383"/>
            </a:avLst>
          </a:prstGeom>
          <a:solidFill>
            <a:srgbClr val="E9F6F3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27355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Enrichment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3566160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 layer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514600" y="3200400"/>
            <a:ext cx="9281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Normalize, enrich, redact, route — every event carries a correlation ID plus cost and quality signals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14600" y="3456432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51176" y="3456432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validator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86175" y="3456432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22751" y="3456432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ID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57750" y="3456432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4326" y="3456432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redaction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29325" y="3456432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65901" y="3456432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enricher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00900" y="3456432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37476" y="3456432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code mapper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372475" y="3456432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09051" y="3456432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+ cost calc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544050" y="3456432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80626" y="3456432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 evaluator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715625" y="3456432"/>
            <a:ext cx="10801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752201" y="3456432"/>
            <a:ext cx="10069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quality scorer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4133088"/>
            <a:ext cx="1874520" cy="859536"/>
          </a:xfrm>
          <a:prstGeom prst="roundRect">
            <a:avLst>
              <a:gd name="adj" fmla="val 6383"/>
            </a:avLst>
          </a:prstGeom>
          <a:solidFill>
            <a:srgbClr val="FBF0E8"/>
          </a:solidFill>
          <a:ln w="13970">
            <a:solidFill>
              <a:srgbClr val="C2571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" y="422452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4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Tiered storage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66928" y="4517136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stores · queryable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514600" y="4151376"/>
            <a:ext cx="9281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Persistent, durable, queryable — no pre-computed aggregates · per-LOB namespaces and indices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514600" y="4407408"/>
            <a:ext cx="17830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C2571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60320" y="44531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4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560320" y="467258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· 0–90 days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389120" y="4407408"/>
            <a:ext cx="17830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C2571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34840" y="44531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4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434840" y="467258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263640" y="4407408"/>
            <a:ext cx="17830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C2571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44531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4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309360" y="467258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events, forever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138160" y="4407408"/>
            <a:ext cx="17830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C2571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83880" y="44531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4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183880" y="467258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artifacts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0012680" y="4407408"/>
            <a:ext cx="17830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C2571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058400" y="44531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4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058400" y="467258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· 5-min TTL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57200" y="5084064"/>
            <a:ext cx="1874520" cy="859536"/>
          </a:xfrm>
          <a:prstGeom prst="roundRect">
            <a:avLst>
              <a:gd name="adj" fmla="val 6383"/>
            </a:avLst>
          </a:prstGeom>
          <a:solidFill>
            <a:srgbClr val="EFF6E9"/>
          </a:solidFill>
          <a:ln w="13970">
            <a:solidFill>
              <a:srgbClr val="3F7A1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6928" y="517550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6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Consumption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566928" y="5468112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+ chatbot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514600" y="5102352"/>
            <a:ext cx="9281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Insights, analysis, dashboards and access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514600" y="5358384"/>
            <a:ext cx="3032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3F7A1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60320" y="5404104"/>
            <a:ext cx="294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56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Kibana dashboards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560320" y="5623560"/>
            <a:ext cx="294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· drill-down · correlation trace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5638800" y="5358384"/>
            <a:ext cx="3032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3F7A1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84520" y="5404104"/>
            <a:ext cx="294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56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dashboard service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684520" y="5623560"/>
            <a:ext cx="294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React · trends via Snowflake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8763000" y="5358384"/>
            <a:ext cx="3032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3F7A1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808720" y="5404104"/>
            <a:ext cx="294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56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chatbot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808720" y="5623560"/>
            <a:ext cx="294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Q&amp;A · long-range analytics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57200" y="6071616"/>
            <a:ext cx="11338560" cy="658368"/>
          </a:xfrm>
          <a:prstGeom prst="roundRect">
            <a:avLst>
              <a:gd name="adj" fmla="val 9722"/>
            </a:avLst>
          </a:prstGeom>
          <a:solidFill>
            <a:srgbClr val="0E1B3A"/>
          </a:solidFill>
          <a:ln/>
        </p:spPr>
      </p:sp>
      <p:sp>
        <p:nvSpPr>
          <p:cNvPr id="90" name="Text 88"/>
          <p:cNvSpPr/>
          <p:nvPr/>
        </p:nvSpPr>
        <p:spPr>
          <a:xfrm>
            <a:off x="713232" y="6144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Governance + standards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ID on every event  ·  Standard event schema  ·  Retention + RBAC  ·  PII redaction policy (GLiNER)  ·  KPI + metric catalog  ·  No pre-computed aggregates  ·  Audit + compliance  ·  Cost governance (budgets, alerts)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2026-07-15T11:27:17Z</dcterms:created>
  <dcterms:modified xsi:type="dcterms:W3CDTF">2026-07-15T11:27:17Z</dcterms:modified>
</cp:coreProperties>
</file>